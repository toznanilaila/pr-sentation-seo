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lfa Slab One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font" Target="fonts/AlfaSlabOne-regular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b5aa977a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b5aa977a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b5aa977a2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b5aa977a2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b5aa977a2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b5aa977a2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b5aa977a2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b5aa977a2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b5aa977a2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b5aa977a2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emji.com/fr/guide/seo/" TargetMode="External"/><Relationship Id="rId4" Type="http://schemas.openxmlformats.org/officeDocument/2006/relationships/hyperlink" Target="https://siecledigital.fr/2020/12/10/tendances-seo-google-202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59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SEO</a:t>
            </a:r>
            <a:endParaRPr sz="59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fr" sz="2584">
                <a:solidFill>
                  <a:srgbClr val="FF5722"/>
                </a:solidFill>
                <a:highlight>
                  <a:schemeClr val="lt1"/>
                </a:highlight>
              </a:rPr>
              <a:t>Search Engine Optimization</a:t>
            </a:r>
            <a:endParaRPr sz="6469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590"/>
          </a:p>
        </p:txBody>
      </p:sp>
      <p:sp>
        <p:nvSpPr>
          <p:cNvPr id="56" name="Google Shape;56;p13"/>
          <p:cNvSpPr txBox="1"/>
          <p:nvPr/>
        </p:nvSpPr>
        <p:spPr>
          <a:xfrm>
            <a:off x="387500" y="3580750"/>
            <a:ext cx="25365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84">
                <a:solidFill>
                  <a:srgbClr val="FF5722"/>
                </a:solidFill>
                <a:highlight>
                  <a:schemeClr val="lt1"/>
                </a:highlight>
              </a:rPr>
              <a:t>Toznani Laila</a:t>
            </a:r>
            <a:endParaRPr/>
          </a:p>
        </p:txBody>
      </p:sp>
      <p:cxnSp>
        <p:nvCxnSpPr>
          <p:cNvPr id="57" name="Google Shape;57;p13"/>
          <p:cNvCxnSpPr/>
          <p:nvPr/>
        </p:nvCxnSpPr>
        <p:spPr>
          <a:xfrm flipH="1" rot="10800000">
            <a:off x="427800" y="3034450"/>
            <a:ext cx="8404500" cy="75600"/>
          </a:xfrm>
          <a:prstGeom prst="straightConnector1">
            <a:avLst/>
          </a:prstGeom>
          <a:noFill/>
          <a:ln cap="flat" cmpd="sng" w="9525">
            <a:solidFill>
              <a:srgbClr val="FF572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6897825" y="4337100"/>
            <a:ext cx="18765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84">
                <a:solidFill>
                  <a:srgbClr val="FF5722"/>
                </a:solidFill>
                <a:highlight>
                  <a:schemeClr val="lt1"/>
                </a:highlight>
              </a:rPr>
              <a:t>22/01/2021</a:t>
            </a:r>
            <a:endParaRPr sz="2584">
              <a:solidFill>
                <a:srgbClr val="FF572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84">
                <a:solidFill>
                  <a:srgbClr val="FF5722"/>
                </a:solidFill>
                <a:highlight>
                  <a:schemeClr val="lt1"/>
                </a:highlight>
              </a:rPr>
              <a:t>Quelques définitions pour commencer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DAC0D"/>
                </a:solidFill>
              </a:rPr>
              <a:t>SEO </a:t>
            </a:r>
            <a:r>
              <a:rPr lang="fr">
                <a:solidFill>
                  <a:srgbClr val="0DAC0D"/>
                </a:solidFill>
              </a:rPr>
              <a:t>est l'acronyme de </a:t>
            </a:r>
            <a:r>
              <a:rPr b="1" lang="fr">
                <a:solidFill>
                  <a:srgbClr val="0DAC0D"/>
                </a:solidFill>
              </a:rPr>
              <a:t>S</a:t>
            </a:r>
            <a:r>
              <a:rPr lang="fr">
                <a:solidFill>
                  <a:srgbClr val="0DAC0D"/>
                </a:solidFill>
              </a:rPr>
              <a:t>earch </a:t>
            </a:r>
            <a:r>
              <a:rPr b="1" lang="fr">
                <a:solidFill>
                  <a:srgbClr val="0DAC0D"/>
                </a:solidFill>
              </a:rPr>
              <a:t>E</a:t>
            </a:r>
            <a:r>
              <a:rPr lang="fr">
                <a:solidFill>
                  <a:srgbClr val="0DAC0D"/>
                </a:solidFill>
              </a:rPr>
              <a:t>ngine </a:t>
            </a:r>
            <a:r>
              <a:rPr b="1" lang="fr">
                <a:solidFill>
                  <a:srgbClr val="0DAC0D"/>
                </a:solidFill>
              </a:rPr>
              <a:t>O</a:t>
            </a:r>
            <a:r>
              <a:rPr lang="fr">
                <a:solidFill>
                  <a:srgbClr val="0DAC0D"/>
                </a:solidFill>
              </a:rPr>
              <a:t>ptimization</a:t>
            </a:r>
            <a:r>
              <a:rPr lang="fr"/>
              <a:t> et peut être défini comme l'art de positionner un site web dans les premiers résultats naturels des moteurs de recherche. En français, le SEO</a:t>
            </a:r>
            <a:r>
              <a:rPr lang="fr">
                <a:solidFill>
                  <a:srgbClr val="000000"/>
                </a:solidFill>
              </a:rPr>
              <a:t> </a:t>
            </a:r>
            <a:r>
              <a:rPr lang="fr"/>
              <a:t>est désigné par le terme de </a:t>
            </a:r>
            <a:r>
              <a:rPr b="1" lang="fr">
                <a:solidFill>
                  <a:srgbClr val="0DAC0D"/>
                </a:solidFill>
              </a:rPr>
              <a:t>référencement naturel.</a:t>
            </a:r>
            <a:endParaRPr b="1">
              <a:solidFill>
                <a:srgbClr val="0DAC0D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>
                <a:solidFill>
                  <a:srgbClr val="FF0000"/>
                </a:solidFill>
              </a:rPr>
              <a:t>SEA </a:t>
            </a:r>
            <a:r>
              <a:rPr lang="fr">
                <a:solidFill>
                  <a:srgbClr val="FF0000"/>
                </a:solidFill>
              </a:rPr>
              <a:t>est un acronyme pour </a:t>
            </a:r>
            <a:r>
              <a:rPr b="1" lang="fr">
                <a:solidFill>
                  <a:srgbClr val="FF0000"/>
                </a:solidFill>
              </a:rPr>
              <a:t>S</a:t>
            </a:r>
            <a:r>
              <a:rPr lang="fr">
                <a:solidFill>
                  <a:srgbClr val="FF0000"/>
                </a:solidFill>
              </a:rPr>
              <a:t>earch </a:t>
            </a:r>
            <a:r>
              <a:rPr b="1" lang="fr">
                <a:solidFill>
                  <a:srgbClr val="FF0000"/>
                </a:solidFill>
              </a:rPr>
              <a:t>E</a:t>
            </a:r>
            <a:r>
              <a:rPr lang="fr">
                <a:solidFill>
                  <a:srgbClr val="FF0000"/>
                </a:solidFill>
              </a:rPr>
              <a:t>ngine </a:t>
            </a:r>
            <a:r>
              <a:rPr b="1" lang="fr">
                <a:solidFill>
                  <a:srgbClr val="FF0000"/>
                </a:solidFill>
              </a:rPr>
              <a:t>A</a:t>
            </a:r>
            <a:r>
              <a:rPr lang="fr">
                <a:solidFill>
                  <a:srgbClr val="FF0000"/>
                </a:solidFill>
              </a:rPr>
              <a:t>dvertising</a:t>
            </a:r>
            <a:r>
              <a:rPr lang="fr"/>
              <a:t> </a:t>
            </a:r>
            <a:r>
              <a:rPr lang="fr"/>
              <a:t>qui signifie littéralement publicité sur les moteurs de recherche. En français, le SEA</a:t>
            </a:r>
            <a:r>
              <a:rPr lang="fr">
                <a:solidFill>
                  <a:srgbClr val="000000"/>
                </a:solidFill>
              </a:rPr>
              <a:t> </a:t>
            </a:r>
            <a:r>
              <a:rPr lang="fr"/>
              <a:t>est désigné par le terme de </a:t>
            </a:r>
            <a:r>
              <a:rPr b="1" lang="fr">
                <a:solidFill>
                  <a:srgbClr val="FF0000"/>
                </a:solidFill>
              </a:rPr>
              <a:t>référencement payant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7550" y="0"/>
            <a:ext cx="280815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572000" y="427625"/>
            <a:ext cx="1773300" cy="14775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Publicité Résultats payants, vendus au clic dans le cadre du programme de publicité google Ads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383000" y="2370475"/>
            <a:ext cx="2025300" cy="8313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Résultats géo localisés Issus des données Google My business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730850" y="3993300"/>
            <a:ext cx="2546700" cy="10467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FFFFFF"/>
                </a:solidFill>
              </a:rPr>
              <a:t>Résultats naturels Issus de l’algorithme de Google et de ses plus de 200 critères de performance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500" y="1630175"/>
            <a:ext cx="2619375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205150" y="181950"/>
            <a:ext cx="16893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284">
                <a:solidFill>
                  <a:srgbClr val="FF5722"/>
                </a:solidFill>
                <a:highlight>
                  <a:schemeClr val="lt1"/>
                </a:highlight>
              </a:rPr>
              <a:t>exemple</a:t>
            </a:r>
            <a:r>
              <a:rPr lang="fr"/>
              <a:t> </a:t>
            </a:r>
            <a:r>
              <a:rPr lang="fr" sz="2284">
                <a:solidFill>
                  <a:srgbClr val="FF5722"/>
                </a:solidFill>
                <a:highlight>
                  <a:schemeClr val="lt1"/>
                </a:highlight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149550" y="209700"/>
            <a:ext cx="15459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284">
                <a:solidFill>
                  <a:srgbClr val="FF5722"/>
                </a:solidFill>
                <a:highlight>
                  <a:schemeClr val="lt1"/>
                </a:highlight>
              </a:rPr>
              <a:t>exemple </a:t>
            </a:r>
            <a:r>
              <a:rPr lang="fr" sz="2284">
                <a:solidFill>
                  <a:srgbClr val="FF5722"/>
                </a:solidFill>
                <a:highlight>
                  <a:schemeClr val="lt1"/>
                </a:highlight>
              </a:rPr>
              <a:t>2</a:t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94700"/>
            <a:ext cx="7448550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fr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les mots clés: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66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L’indexation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Code	source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Contenu dupliqué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Accessibilité	et ergonomie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Temps de chargement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Google bot (Robots.txt)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Structure du site / L’arborescence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Les backlinks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325" y="0"/>
            <a:ext cx="5977850" cy="26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fr" sz="3000">
                <a:solidFill>
                  <a:srgbClr val="FF5722"/>
                </a:solidFill>
                <a:latin typeface="Alfa Slab One"/>
                <a:ea typeface="Alfa Slab One"/>
                <a:cs typeface="Alfa Slab One"/>
                <a:sym typeface="Alfa Slab One"/>
              </a:rPr>
              <a:t>réference:</a:t>
            </a:r>
            <a:endParaRPr sz="3000">
              <a:solidFill>
                <a:srgbClr val="FF5722"/>
              </a:solidFill>
              <a:latin typeface="Alfa Slab One"/>
              <a:ea typeface="Alfa Slab One"/>
              <a:cs typeface="Alfa Slab One"/>
              <a:sym typeface="Alfa Slab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3"/>
              </a:rPr>
              <a:t>https://semji.com/fr/guide/seo/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u="sng">
                <a:solidFill>
                  <a:schemeClr val="hlink"/>
                </a:solidFill>
                <a:hlinkClick r:id="rId4"/>
              </a:rPr>
              <a:t>https://siecledigital.fr/2020/12/10/tendances-seo-google-2021/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